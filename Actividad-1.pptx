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90787"/>
            <a:ext cx="116014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sz="4500" b="1" i="0" u="none" dirty="0" err="1">
                <a:solidFill>
                  <a:srgbClr val="0F172A"/>
                </a:solidFill>
                <a:latin typeface="Plus Jakarta Sans"/>
              </a:rPr>
              <a:t>Transformación</a:t>
            </a:r>
            <a:r>
              <a:rPr sz="4500" b="1" i="0" u="none" dirty="0">
                <a:solidFill>
                  <a:srgbClr val="0F172A"/>
                </a:solidFill>
                <a:latin typeface="Plus Jakarta Sans"/>
              </a:rPr>
              <a:t> Digital e </a:t>
            </a:r>
            <a:r>
              <a:rPr sz="4500" b="1" i="0" u="none" dirty="0" err="1">
                <a:solidFill>
                  <a:srgbClr val="0F172A"/>
                </a:solidFill>
                <a:latin typeface="Plus Jakarta Sans"/>
              </a:rPr>
              <a:t>Inteligencia</a:t>
            </a:r>
            <a:r>
              <a:rPr sz="4500" b="1" i="0" u="none" dirty="0">
                <a:solidFill>
                  <a:srgbClr val="0F172A"/>
                </a:solidFill>
                <a:latin typeface="Plus Jakarta Sans"/>
              </a:rPr>
              <a:t>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7487"/>
            <a:ext cx="5334000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57487"/>
            <a:ext cx="5334000" cy="2190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109912"/>
            <a:ext cx="486060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338CA"/>
                </a:solidFill>
                <a:latin typeface="Plus Jakarta Sans SemiBold"/>
              </a:rPr>
              <a:t>Rediseño Agéntico de Flujos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09962"/>
            <a:ext cx="46291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Pasar de chatbots aislados a sistemas multi-agente integrados que planifican, coordinan y ejecutan tareas complejas de extremo a extremo reduciendo fricciones operativas.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3109912"/>
            <a:ext cx="486060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338CA"/>
                </a:solidFill>
                <a:latin typeface="Plus Jakarta Sans SemiBold"/>
              </a:rPr>
              <a:t>Infraestructura y Datos Limpios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509962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Consolidar arquitecturas híbridas y 'Data Clean Rooms' para garantizar una base analítica confiable, segura y lista para operar modelos con cero latencia crítica.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Pilares Clave de Modernización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0F172A"/>
                </a:solidFill>
                <a:latin typeface="Plus Jakarta Sans"/>
              </a:rPr>
              <a:t>Procesos</a:t>
            </a:r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Plus Jakarta Sans"/>
              </a:rPr>
              <a:t>Asistidos</a:t>
            </a:r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Plus Jakarta Sans"/>
              </a:rPr>
              <a:t>por</a:t>
            </a:r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19175"/>
            <a:ext cx="5286375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1323975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Integración Holística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724025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En 2026, la ventaja competitiva no proviene de acumular software, sino de embeber la inteligencia artificial directamente en la toma de decisiones diaria.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653307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El trabajo humano se enfoca en el juicio crítico, mientras la IA gestiona análisis predictivos, clasificación en tiempo real y optimización operativa continua.</a:t>
            </a:r>
          </a:p>
        </p:txBody>
      </p:sp>
      <p:pic>
        <p:nvPicPr>
          <p:cNvPr id="1026" name="Picture 2" descr="Qué es el Diseño Asistido por Inteligencia Artificial? - Architechtures">
            <a:extLst>
              <a:ext uri="{FF2B5EF4-FFF2-40B4-BE49-F238E27FC236}">
                <a16:creationId xmlns:a16="http://schemas.microsoft.com/office/drawing/2014/main" id="{BAC77ABD-F9B6-5794-8980-CF9606FBC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738" y="2653307"/>
            <a:ext cx="622935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5556"/>
            <a:ext cx="3492549" cy="2614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45556"/>
            <a:ext cx="3492549" cy="2614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45556"/>
            <a:ext cx="3492549" cy="26146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40831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621881"/>
            <a:ext cx="243030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Agentes Inteligentes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21931"/>
            <a:ext cx="29019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Orquestación de decisiones multi-paso para acelerar el tiempo de respuesta al cliente final.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840831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621881"/>
            <a:ext cx="251031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Seguridad Zero-Trust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021931"/>
            <a:ext cx="29019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Protección nativa de datos corporativos e identidades frente a amenazas avanzadas.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840831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621881"/>
            <a:ext cx="299037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Estrategia por Resultados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021931"/>
            <a:ext cx="29019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Inversión tecnológica evaluada bajo retorno de inversión medible y métricas de valor real.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964656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8899" y="2964656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7199" y="2964656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Ejes Transformacionales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7012"/>
            <a:ext cx="5334000" cy="2171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57537"/>
            <a:ext cx="45529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0" i="0" u="none">
                <a:solidFill>
                  <a:srgbClr val="4338CA"/>
                </a:solidFill>
                <a:latin typeface="Plus Jakarta Sans ExtraBold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300537"/>
            <a:ext cx="45529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293B"/>
                </a:solidFill>
                <a:latin typeface="Inter SemiBold"/>
              </a:rPr>
              <a:t>Reducción en Tiempos de Ciclo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767012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Optimizando la Operación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67062"/>
            <a:ext cx="53340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Mediante el despliegue de pilotos focalizados en procesos de alto volumen, se logra disminuir drásticamente el trabajo manual y los errores de ejecución, alcanzando un retorno directo sobre la capacidad operativa de la organización.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Impacto en la Eficiencia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705100"/>
            <a:ext cx="909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Transparencia e Trazabilidad: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Mapeo exhaustivo del linaje de datos para auditorías continuas y prevención de sesgos.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400425"/>
            <a:ext cx="9096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Protección de Privacidad: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Aplicación estricta de normativas globales para la custodia de información sensible.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852862"/>
            <a:ext cx="909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Supervisión Humana en el Bucle: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Puntos de control obligatorios en decisiones operativas que superen el umbral de riesgo.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548187"/>
            <a:ext cx="9096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Gestión de Riesgo Agéntico: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Protocolos de mitigación para evitar alucinaciones o desviaciones del sistema.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719387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414712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67150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562475"/>
            <a:ext cx="2381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Gobernanza y Cumplimiento Ético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57500"/>
            <a:ext cx="762000" cy="381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75522" y="3124200"/>
            <a:ext cx="764095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lus Jakarta Sans"/>
              </a:rPr>
              <a:t>02. Ejecución y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6137" y="3943350"/>
            <a:ext cx="5419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Plan Estratégico de Implementación e Inversión Escalonada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38612"/>
            <a:ext cx="2541240" cy="1357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09800"/>
            <a:ext cx="2541240" cy="13573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38612"/>
            <a:ext cx="2541240" cy="13573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09800"/>
            <a:ext cx="2541240" cy="13573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338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995" y="4338637"/>
            <a:ext cx="224824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338CA"/>
                </a:solidFill>
                <a:latin typeface="Plus Jakarta Sans SemiBold"/>
              </a:rPr>
              <a:t>Q1 - Evaluación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652962"/>
            <a:ext cx="214119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Auditoría de datos, gobierno y selección del primer flujo piloto.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409825"/>
            <a:ext cx="224824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338CA"/>
                </a:solidFill>
                <a:latin typeface="Plus Jakarta Sans SemiBold"/>
              </a:rPr>
              <a:t>Q2 - Piloto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724150"/>
            <a:ext cx="214119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Despliegue de modelos agénticos en entornos controlados con KPIs claros.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338637"/>
            <a:ext cx="224824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338CA"/>
                </a:solidFill>
                <a:latin typeface="Plus Jakarta Sans SemiBold"/>
              </a:rPr>
              <a:t>Q3 - Integración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652962"/>
            <a:ext cx="214119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Escalado a workflows corporativos y modernización de plataformas 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409825"/>
            <a:ext cx="224824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338CA"/>
                </a:solidFill>
                <a:latin typeface="Plus Jakarta Sans SemiBold"/>
              </a:rPr>
              <a:t>Q4 - Optimización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724150"/>
            <a:ext cx="214119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Medición de ROI, ajuste de gobernanza y expansión transversal.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Cronograma de Ejecución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46870" y="3757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82790" y="3757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8709" y="3757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54629" y="3757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23975"/>
            <a:ext cx="11049000" cy="5057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4724400"/>
            <a:ext cx="10496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1" u="none">
                <a:solidFill>
                  <a:srgbClr val="334155"/>
                </a:solidFill>
                <a:latin typeface="Inter"/>
              </a:rPr>
              <a:t>Las áreas operativas y de soporte al cliente muestran los incrementos más significativos en productividad tras la adopción de flujos integrados con 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Mejora de Eficiencia por Unidad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31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04073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43112"/>
            <a:ext cx="51435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Cultura AI-Native: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Capacidad de empoderar a los colaboradores con herramientas modernas de entrenamiento y colaboración.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64080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43187"/>
            <a:ext cx="51435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Alineación Estratégica: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Equipos enfocados en resultados de negocio en lugar de la sola implementación de software.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24088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243262"/>
            <a:ext cx="514350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Adopción Sostenible: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Disminución de la resistencia al cambio mediante programas de aprendizaje activo y casos de éxito internos.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52637"/>
            <a:ext cx="531495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Gestión del Cambio Organizacional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-14288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003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762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762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325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00500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700" b="1" i="0" u="none" dirty="0">
                <a:solidFill>
                  <a:srgbClr val="0F172A"/>
                </a:solidFill>
                <a:latin typeface="Plus Jakarta Sans"/>
              </a:rPr>
              <a:t>Bibliografías:</a:t>
            </a:r>
            <a:endParaRPr sz="27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8234976-99D7-B7C9-1648-DAE24D7546DB}"/>
              </a:ext>
            </a:extLst>
          </p:cNvPr>
          <p:cNvSpPr txBox="1"/>
          <p:nvPr/>
        </p:nvSpPr>
        <p:spPr>
          <a:xfrm>
            <a:off x="1627822" y="3855452"/>
            <a:ext cx="6605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https://iimtu-edu-in.translate.goog/blog/the-future-of-computer-science-engineering/?_x_tr_sl=en&amp;_x_tr_tl=es&amp;_x_tr_hl=es&amp;_x_tr_pto=tc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B11D98A-D6BB-3504-DB0B-94451B168AF4}"/>
              </a:ext>
            </a:extLst>
          </p:cNvPr>
          <p:cNvSpPr txBox="1"/>
          <p:nvPr/>
        </p:nvSpPr>
        <p:spPr>
          <a:xfrm>
            <a:off x="1804511" y="3044606"/>
            <a:ext cx="6252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https://www.youtube.com/watch?si=SFfqeRXp0NP1DvAD&amp;v=BckafoyFtnk&amp;feature=youtu.be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534</Words>
  <Application>Microsoft Office PowerPoint</Application>
  <PresentationFormat>Panorámica</PresentationFormat>
  <Paragraphs>50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Personal</cp:lastModifiedBy>
  <cp:revision>2</cp:revision>
  <dcterms:created xsi:type="dcterms:W3CDTF">2013-01-27T09:14:16Z</dcterms:created>
  <dcterms:modified xsi:type="dcterms:W3CDTF">2026-09-09T05:18:02Z</dcterms:modified>
  <cp:category/>
</cp:coreProperties>
</file>